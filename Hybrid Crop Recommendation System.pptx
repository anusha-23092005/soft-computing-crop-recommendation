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Medium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C10838B-5340-41E2-AE21-BEAE80F4CF70}">
  <a:tblStyle styleId="{BC10838B-5340-41E2-AE21-BEAE80F4CF7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2" y="3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26" Type="http://schemas.openxmlformats.org/officeDocument/2006/relationships/image" Target="../media/image60.png"/><Relationship Id="rId3" Type="http://schemas.openxmlformats.org/officeDocument/2006/relationships/image" Target="../media/image3.png"/><Relationship Id="rId21" Type="http://schemas.openxmlformats.org/officeDocument/2006/relationships/image" Target="../media/image55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5" Type="http://schemas.openxmlformats.org/officeDocument/2006/relationships/image" Target="../media/image5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24" Type="http://schemas.openxmlformats.org/officeDocument/2006/relationships/image" Target="../media/image58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Relationship Id="rId22" Type="http://schemas.openxmlformats.org/officeDocument/2006/relationships/image" Target="../media/image56.png"/><Relationship Id="rId27" Type="http://schemas.openxmlformats.org/officeDocument/2006/relationships/image" Target="../media/image6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634400"/>
            <a:ext cx="11201400" cy="13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Hybrid Crop Recommendation System: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Fuzzy Logic + Explainable AI + ML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1944885"/>
            <a:ext cx="10668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Transparent, Data-Driven Agronomic Advice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557117"/>
            <a:ext cx="2630328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TEAM MEMBERS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4861917"/>
            <a:ext cx="2505075" cy="1234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R. Anusha (23MIS0362)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S.V. Rithul Kanna (23MIS0447)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B. Sahaana (23MIS0558)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B. Sanjana (23MIS0559)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029075" y="4557117"/>
            <a:ext cx="1330166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FACULTY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029075" y="4861917"/>
            <a:ext cx="12668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Dr. Karpagam 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19237"/>
            <a:ext cx="34035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4150" y="1519237"/>
            <a:ext cx="34035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6300" y="1519237"/>
            <a:ext cx="3403699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3976687"/>
            <a:ext cx="34035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4150" y="3976687"/>
            <a:ext cx="34035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26300" y="3976687"/>
            <a:ext cx="3403699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1000125" y="2424112"/>
            <a:ext cx="307366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17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Who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00125" y="2767012"/>
            <a:ext cx="2927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Farmers and agricultural planners lacking transparent, data-driven advice.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32275" y="2424112"/>
            <a:ext cx="307366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17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632275" y="2767012"/>
            <a:ext cx="2927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Struggle to select optimal crops due to ambiguous environmental variables.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264425" y="2424112"/>
            <a:ext cx="307382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17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Where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264425" y="2767012"/>
            <a:ext cx="292744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Real-world agricultural environments operating on a continuous spectrum.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00125" y="4881562"/>
            <a:ext cx="307366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17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When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00125" y="5224462"/>
            <a:ext cx="2927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Critical pre-planting decision phase.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4632275" y="4881562"/>
            <a:ext cx="307366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17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Why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632275" y="5224462"/>
            <a:ext cx="29273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"Black Box" machine learning gives blind recommendations. Farmers can't risk livelihoods on unexplained guesses.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264425" y="4881562"/>
            <a:ext cx="307382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17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How (The Flaw)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264425" y="5224462"/>
            <a:ext cx="292744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Rigid Boolean logic fails. (e.g., &gt;200mm rainfall needed; 199mm input = 0% match).</a:t>
            </a:r>
            <a:endParaRPr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0125" y="1852612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32275" y="185261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64425" y="1852612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00125" y="43100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632275" y="43100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64425" y="431006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762000" y="5715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19362"/>
            <a:ext cx="33654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519362"/>
            <a:ext cx="3365450" cy="268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519362"/>
            <a:ext cx="3365450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1000125" y="3424237"/>
            <a:ext cx="30336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17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Deep Learning &amp; ANN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000125" y="3767137"/>
            <a:ext cx="288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Highly accurate but a complete "Black Box." Provides zero decision-making insight or reasoning to the end-user.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651325" y="3424237"/>
            <a:ext cx="30336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17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Decision Trees &amp; Random Forests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651325" y="3995737"/>
            <a:ext cx="2889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Suffer from the "Crisp Boundary" problem. Small, negligible input changes can completely flip agricultural recommendations.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302525" y="3424237"/>
            <a:ext cx="30336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17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Hard-Coded Expert Systems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302525" y="3767137"/>
            <a:ext cx="28892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Extremely rigid manual IF-THEN rules. Impossible to scale effectively and fails entirely when handling ambiguous data.</a:t>
            </a:r>
            <a:endParaRPr/>
          </a:p>
        </p:txBody>
      </p:sp>
      <p:pic>
        <p:nvPicPr>
          <p:cNvPr id="136" name="Google Shape;13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125" y="28527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51325" y="2852737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02525" y="2852737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762000" y="5715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Existing Systems &amp; Limitations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95512"/>
            <a:ext cx="33654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195512"/>
            <a:ext cx="33654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195512"/>
            <a:ext cx="33654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1000125" y="3100387"/>
            <a:ext cx="30336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17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Engineer a Soft Computing Engine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000125" y="3671887"/>
            <a:ext cx="2889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Replace rigid Boolean thresholds with Fuzzy Logic and Triangular Membership Functions for continuous agricultural data.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4651325" y="3100387"/>
            <a:ext cx="30336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17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Implement Explainable AI (XAI)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651325" y="3671887"/>
            <a:ext cx="2889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Design an architecture outputting a "Defuzzified Match Percentage" and mathematically explaining feature contributions.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8302525" y="3100387"/>
            <a:ext cx="30336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17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Benchmark via Hybrid Deployment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8302525" y="3671887"/>
            <a:ext cx="2889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Build an interactive web app evaluating the Fuzzy Logic model against 6 standard Machine Learning models in real-time:</a:t>
            </a:r>
            <a:endParaRPr/>
          </a:p>
        </p:txBody>
      </p:sp>
      <p:pic>
        <p:nvPicPr>
          <p:cNvPr id="154" name="Google Shape;15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125" y="252888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51325" y="252888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02525" y="2528887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02525" y="4681537"/>
            <a:ext cx="1047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445525" y="4681537"/>
            <a:ext cx="962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502800" y="4681537"/>
            <a:ext cx="4286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02525" y="5005387"/>
            <a:ext cx="4286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826400" y="5005387"/>
            <a:ext cx="8667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788425" y="5005387"/>
            <a:ext cx="10287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6"/>
          <p:cNvSpPr txBox="1"/>
          <p:nvPr/>
        </p:nvSpPr>
        <p:spPr>
          <a:xfrm>
            <a:off x="762000" y="5715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Research Objectives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62137"/>
            <a:ext cx="50958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1181100" y="1562100"/>
            <a:ext cx="46767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Source: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Kaggle's "Crop Recommendation Dataset" (2,200 unique data points).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181100" y="2743200"/>
            <a:ext cx="46767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Target Classes: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22 diverse crops (ranging from water-intensive to dry-weather).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181100" y="3924300"/>
            <a:ext cx="4676775" cy="1971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7 Continuous Input Parameters:</a:t>
            </a:r>
            <a:endParaRPr/>
          </a:p>
        </p:txBody>
      </p:sp>
      <p:pic>
        <p:nvPicPr>
          <p:cNvPr id="173" name="Google Shape;17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862137"/>
            <a:ext cx="5095875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1595437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277653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3957637"/>
            <a:ext cx="2762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1371600" y="4371975"/>
            <a:ext cx="44862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Macronutrients: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Nitrogen (0-140), Phosphorus (5-145), Potassium (5-205).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371600" y="4996755"/>
            <a:ext cx="44862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Soil Acidity: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pH Level (3.5 - 9.9).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371600" y="5347245"/>
            <a:ext cx="44862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Climatic: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Temperature (8.8-43.6°C), Humidity (14.2-99.9%), Rainfall (20.2-298.5mm).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762000" y="5715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Dataset Source &amp; Description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566862"/>
            <a:ext cx="2316956" cy="459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45681" y="1843087"/>
            <a:ext cx="2316956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9362" y="1762125"/>
            <a:ext cx="2316956" cy="420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13043" y="1957387"/>
            <a:ext cx="2316956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87103" y="186213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1325403" y="2719387"/>
            <a:ext cx="119014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17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User Input</a:t>
            </a:r>
            <a:endParaRPr/>
          </a:p>
        </p:txBody>
      </p:sp>
      <p:pic>
        <p:nvPicPr>
          <p:cNvPr id="192" name="Google Shape;19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221831" y="3719512"/>
            <a:ext cx="1809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370784" y="213836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3949065" y="2995612"/>
            <a:ext cx="151018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17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Fuzzy Engine</a:t>
            </a:r>
            <a:endParaRPr/>
          </a:p>
        </p:txBody>
      </p:sp>
      <p:pic>
        <p:nvPicPr>
          <p:cNvPr id="195" name="Google Shape;195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05512" y="3719512"/>
            <a:ext cx="1809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54465" y="2057400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6847760" y="291465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17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ML Models</a:t>
            </a:r>
            <a:endParaRPr/>
          </a:p>
        </p:txBody>
      </p:sp>
      <p:pic>
        <p:nvPicPr>
          <p:cNvPr id="198" name="Google Shape;198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789193" y="3719512"/>
            <a:ext cx="1809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938146" y="2252662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9371409" y="3109912"/>
            <a:ext cx="1800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B172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 Output &amp; Graphs</a:t>
            </a:r>
            <a:endParaRPr/>
          </a:p>
        </p:txBody>
      </p:sp>
      <p:pic>
        <p:nvPicPr>
          <p:cNvPr id="201" name="Google Shape;201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787128" y="206216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1257300" y="3214687"/>
            <a:ext cx="15263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Nitrogen (N)</a:t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962025" y="3519487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1257300" y="3605212"/>
            <a:ext cx="15263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Phosphorus (P)</a:t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962025" y="3910012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1257300" y="3995737"/>
            <a:ext cx="15263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Potassium (K)</a:t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962025" y="4300537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1257300" y="4386262"/>
            <a:ext cx="15263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Temperature</a:t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962025" y="4691062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1257300" y="4776787"/>
            <a:ext cx="15263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Humidity</a:t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962025" y="5081587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1257300" y="5167312"/>
            <a:ext cx="15263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pH Level</a:t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962025" y="5472112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1257300" y="5557837"/>
            <a:ext cx="152638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Rainfall</a:t>
            </a:r>
            <a:endParaRPr/>
          </a:p>
        </p:txBody>
      </p:sp>
      <p:pic>
        <p:nvPicPr>
          <p:cNvPr id="215" name="Google Shape;215;p18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537471" y="233838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4050506" y="3490912"/>
            <a:ext cx="15168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Fuzzy Profiling</a:t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3745706" y="3795712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4021931" y="3881437"/>
            <a:ext cx="1545431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Mathematical Fuzzification</a:t>
            </a: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3745706" y="4414837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4040981" y="4500562"/>
            <a:ext cx="15263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Inference Evaluation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3745706" y="4805362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4050506" y="4891087"/>
            <a:ext cx="15168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Defuzzification</a:t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3745706" y="5195887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4021931" y="5281612"/>
            <a:ext cx="154543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Suitability Scoring</a:t>
            </a:r>
            <a:endParaRPr/>
          </a:p>
        </p:txBody>
      </p:sp>
      <p:pic>
        <p:nvPicPr>
          <p:cNvPr id="225" name="Google Shape;225;p18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354490" y="225742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 txBox="1"/>
          <p:nvPr/>
        </p:nvSpPr>
        <p:spPr>
          <a:xfrm>
            <a:off x="6834187" y="3409950"/>
            <a:ext cx="15168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>
            <a:off x="6529387" y="3714750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6834187" y="3800475"/>
            <a:ext cx="15168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Decision Tree</a:t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6529387" y="4105275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6834187" y="4191000"/>
            <a:ext cx="15168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KNN</a:t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6529387" y="4495800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6834187" y="4581525"/>
            <a:ext cx="15168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SVM</a:t>
            </a:r>
            <a:endParaRPr/>
          </a:p>
        </p:txBody>
      </p:sp>
      <p:sp>
        <p:nvSpPr>
          <p:cNvPr id="233" name="Google Shape;233;p18"/>
          <p:cNvSpPr/>
          <p:nvPr/>
        </p:nvSpPr>
        <p:spPr>
          <a:xfrm>
            <a:off x="6529387" y="4886325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8"/>
          <p:cNvSpPr txBox="1"/>
          <p:nvPr/>
        </p:nvSpPr>
        <p:spPr>
          <a:xfrm>
            <a:off x="6834187" y="4972050"/>
            <a:ext cx="15168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Logistic Regression</a:t>
            </a: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6529387" y="5276850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6834187" y="5362575"/>
            <a:ext cx="151685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Gradient Boosting</a:t>
            </a:r>
            <a:endParaRPr/>
          </a:p>
        </p:txBody>
      </p:sp>
      <p:pic>
        <p:nvPicPr>
          <p:cNvPr id="237" name="Google Shape;237;p18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138171" y="2452687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 txBox="1"/>
          <p:nvPr/>
        </p:nvSpPr>
        <p:spPr>
          <a:xfrm>
            <a:off x="9636918" y="3605212"/>
            <a:ext cx="149780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Top Recommendation</a:t>
            </a: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9313068" y="3910012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9617868" y="3995737"/>
            <a:ext cx="15168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Explainable AI (XAI)</a:t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9313068" y="4300537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9617868" y="4386262"/>
            <a:ext cx="1516856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Feature Contributions</a:t>
            </a:r>
            <a:endParaRPr/>
          </a:p>
        </p:txBody>
      </p:sp>
      <p:sp>
        <p:nvSpPr>
          <p:cNvPr id="243" name="Google Shape;243;p18"/>
          <p:cNvSpPr/>
          <p:nvPr/>
        </p:nvSpPr>
        <p:spPr>
          <a:xfrm>
            <a:off x="9313068" y="4691062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 txBox="1"/>
          <p:nvPr/>
        </p:nvSpPr>
        <p:spPr>
          <a:xfrm>
            <a:off x="9646443" y="4776787"/>
            <a:ext cx="148828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 Comparisons</a:t>
            </a: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9313068" y="5081587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9636918" y="5167312"/>
            <a:ext cx="149780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Interactive UI</a:t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962025" y="3519487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962025" y="3910012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962025" y="4300537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962025" y="4691062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962025" y="5081587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962025" y="5472112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3745706" y="3795712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3745706" y="4414837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3745706" y="4805362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3745706" y="5195887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6529387" y="3714750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6529387" y="4105275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6529387" y="4495800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6529387" y="4886325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6529387" y="5276850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9313068" y="3910012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9313068" y="4300537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9313068" y="4691062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9313068" y="5081587"/>
            <a:ext cx="191690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18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57275" y="3267075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8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57275" y="3657600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8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57275" y="4048125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8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57275" y="4438650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8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57275" y="4829175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8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57275" y="5219700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8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57275" y="5610225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8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3840956" y="354330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8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3840956" y="4048125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8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3840956" y="4552950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8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3840956" y="4943475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8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3840956" y="5334000"/>
            <a:ext cx="857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8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624637" y="3462337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8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624637" y="385286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8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624637" y="4243387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8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624637" y="463391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8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624637" y="5024437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8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6624637" y="5414962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8" descr="image.png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9408318" y="3657600"/>
            <a:ext cx="1333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8" descr="image.png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9408318" y="4048125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8" descr="image.png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9408318" y="4438650"/>
            <a:ext cx="11430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8" descr="image.png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9408318" y="4829175"/>
            <a:ext cx="1428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8" descr="image.png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9408318" y="5219700"/>
            <a:ext cx="13335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8"/>
          <p:cNvSpPr txBox="1"/>
          <p:nvPr/>
        </p:nvSpPr>
        <p:spPr>
          <a:xfrm>
            <a:off x="762000" y="5715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System Architecture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9"/>
          <p:cNvSpPr/>
          <p:nvPr/>
        </p:nvSpPr>
        <p:spPr>
          <a:xfrm>
            <a:off x="1661145" y="37480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3821385" y="37480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5981625" y="37480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/>
          <p:nvPr/>
        </p:nvSpPr>
        <p:spPr>
          <a:xfrm>
            <a:off x="8141865" y="37480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10302106" y="37480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762000" y="3843337"/>
            <a:ext cx="10668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711327" y="2500312"/>
            <a:ext cx="212823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Module 1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>
            <a:off x="762000" y="2776537"/>
            <a:ext cx="202689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Dynamic Knowledge Base Profiling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Builds 22 "Fuzzy Profiles" from Min/Mean/Max data.</a:t>
            </a:r>
            <a:endParaRPr/>
          </a:p>
        </p:txBody>
      </p:sp>
      <p:sp>
        <p:nvSpPr>
          <p:cNvPr id="303" name="Google Shape;303;p19"/>
          <p:cNvSpPr txBox="1"/>
          <p:nvPr/>
        </p:nvSpPr>
        <p:spPr>
          <a:xfrm>
            <a:off x="2871567" y="4148137"/>
            <a:ext cx="212823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Module 2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>
            <a:off x="2922240" y="4424362"/>
            <a:ext cx="202689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Mathematical Fuzzification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Converts crisp inputs into 0.0-1.0 degree of truth.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5031808" y="2700337"/>
            <a:ext cx="212823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Module 3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5082480" y="2976562"/>
            <a:ext cx="202689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Fuzzy Inference Engine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Cross-evaluates inputs against 22 crops simultaneously.</a:t>
            </a:r>
            <a:endParaRPr/>
          </a:p>
        </p:txBody>
      </p:sp>
      <p:sp>
        <p:nvSpPr>
          <p:cNvPr id="307" name="Google Shape;307;p19"/>
          <p:cNvSpPr txBox="1"/>
          <p:nvPr/>
        </p:nvSpPr>
        <p:spPr>
          <a:xfrm>
            <a:off x="7192048" y="4148137"/>
            <a:ext cx="212823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Module 4</a:t>
            </a:r>
            <a:endParaRPr/>
          </a:p>
        </p:txBody>
      </p:sp>
      <p:sp>
        <p:nvSpPr>
          <p:cNvPr id="308" name="Google Shape;308;p19"/>
          <p:cNvSpPr txBox="1"/>
          <p:nvPr/>
        </p:nvSpPr>
        <p:spPr>
          <a:xfrm>
            <a:off x="7242720" y="4424362"/>
            <a:ext cx="202689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Defuzzification &amp; XAI Extraction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Translates logic back into a crisp "Suitability Percentage".</a:t>
            </a:r>
            <a:endParaRPr/>
          </a:p>
        </p:txBody>
      </p:sp>
      <p:sp>
        <p:nvSpPr>
          <p:cNvPr id="309" name="Google Shape;309;p19"/>
          <p:cNvSpPr txBox="1"/>
          <p:nvPr/>
        </p:nvSpPr>
        <p:spPr>
          <a:xfrm>
            <a:off x="9352288" y="2700337"/>
            <a:ext cx="212823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Module 5</a:t>
            </a:r>
            <a:endParaRPr/>
          </a:p>
        </p:txBody>
      </p:sp>
      <p:sp>
        <p:nvSpPr>
          <p:cNvPr id="310" name="Google Shape;310;p19"/>
          <p:cNvSpPr txBox="1"/>
          <p:nvPr/>
        </p:nvSpPr>
        <p:spPr>
          <a:xfrm>
            <a:off x="9402960" y="2976562"/>
            <a:ext cx="202689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Interactive Web UI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Event-driven frontend triggering the backend engine.</a:t>
            </a:r>
            <a:endParaRPr/>
          </a:p>
        </p:txBody>
      </p:sp>
      <p:sp>
        <p:nvSpPr>
          <p:cNvPr id="311" name="Google Shape;311;p19"/>
          <p:cNvSpPr txBox="1"/>
          <p:nvPr/>
        </p:nvSpPr>
        <p:spPr>
          <a:xfrm>
            <a:off x="762000" y="5715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Proposed System Modules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095875" cy="451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24650" y="2943225"/>
            <a:ext cx="8001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4095750"/>
            <a:ext cx="42672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4467225"/>
            <a:ext cx="42672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4838700"/>
            <a:ext cx="42672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5210175"/>
            <a:ext cx="4267200" cy="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5581650"/>
            <a:ext cx="42672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0"/>
          <p:cNvSpPr txBox="1"/>
          <p:nvPr/>
        </p:nvSpPr>
        <p:spPr>
          <a:xfrm>
            <a:off x="1181100" y="1438275"/>
            <a:ext cx="46767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Real-Time Data Processing: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Dashboard captures 7 parameters, passing to the Fuzzy Engine in milliseconds.</a:t>
            </a:r>
            <a:endParaRPr/>
          </a:p>
        </p:txBody>
      </p:sp>
      <p:sp>
        <p:nvSpPr>
          <p:cNvPr id="325" name="Google Shape;325;p20"/>
          <p:cNvSpPr txBox="1"/>
          <p:nvPr/>
        </p:nvSpPr>
        <p:spPr>
          <a:xfrm>
            <a:off x="1181100" y="2619375"/>
            <a:ext cx="46767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Example Scenario: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High moisture (205mm rain, 82% humidity). Engine assigns 0.9 truth to Rice/Jute, 0.0 to Chickpea.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1181100" y="3800475"/>
            <a:ext cx="46767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XAI Output: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Top Recommendation is Rice (65.16% match). System mathematically explains highly suitable vs. less suitable nutrients.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6958650" y="1562100"/>
            <a:ext cx="35244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 Fuzzy</a:t>
            </a:r>
            <a:r>
              <a:rPr lang="en-US" sz="1050" b="0" i="0" u="none" strike="noStrike" cap="non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         ML          Graphs</a:t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6724650" y="1819275"/>
            <a:ext cx="4314825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6724650" y="2076450"/>
            <a:ext cx="4314825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🏆 Best Crop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6724650" y="2381250"/>
            <a:ext cx="453056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rice</a:t>
            </a:r>
            <a:endParaRPr/>
          </a:p>
        </p:txBody>
      </p:sp>
      <p:sp>
        <p:nvSpPr>
          <p:cNvPr id="331" name="Google Shape;331;p20"/>
          <p:cNvSpPr txBox="1"/>
          <p:nvPr/>
        </p:nvSpPr>
        <p:spPr>
          <a:xfrm>
            <a:off x="6724650" y="3409950"/>
            <a:ext cx="43148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🔍 Explanation</a:t>
            </a:r>
            <a:endParaRPr/>
          </a:p>
        </p:txBody>
      </p:sp>
      <p:pic>
        <p:nvPicPr>
          <p:cNvPr id="332" name="Google Shape;33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1471612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2652712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383381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764625" y="1576275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515225" y="1562100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078175" y="1562100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0"/>
          <p:cNvSpPr txBox="1"/>
          <p:nvPr/>
        </p:nvSpPr>
        <p:spPr>
          <a:xfrm>
            <a:off x="6724650" y="3895725"/>
            <a:ext cx="42672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♦</a:t>
            </a:r>
            <a:r>
              <a:rPr lang="en-US" sz="937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N is </a:t>
            </a:r>
            <a:r>
              <a:rPr lang="en-US" sz="937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moderately suitable</a:t>
            </a:r>
            <a:r>
              <a:rPr lang="en-US" sz="937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7" b="0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⚠️</a:t>
            </a:r>
            <a:r>
              <a:rPr lang="en-US" sz="937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(0.47) for rice.</a:t>
            </a:r>
            <a:endParaRPr/>
          </a:p>
        </p:txBody>
      </p:sp>
      <p:sp>
        <p:nvSpPr>
          <p:cNvPr id="339" name="Google Shape;339;p20"/>
          <p:cNvSpPr txBox="1"/>
          <p:nvPr/>
        </p:nvSpPr>
        <p:spPr>
          <a:xfrm>
            <a:off x="6724650" y="4267200"/>
            <a:ext cx="42672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♦</a:t>
            </a:r>
            <a:r>
              <a:rPr lang="en-US" sz="937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P is </a:t>
            </a:r>
            <a:r>
              <a:rPr lang="en-US" sz="937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moderately suitable</a:t>
            </a:r>
            <a:r>
              <a:rPr lang="en-US" sz="937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7" b="0" i="0" u="none" strike="noStrike" cap="non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⚠️</a:t>
            </a:r>
            <a:r>
              <a:rPr lang="en-US" sz="937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(0.56) for rice.</a:t>
            </a:r>
            <a:endParaRPr/>
          </a:p>
        </p:txBody>
      </p:sp>
      <p:sp>
        <p:nvSpPr>
          <p:cNvPr id="340" name="Google Shape;340;p20"/>
          <p:cNvSpPr txBox="1"/>
          <p:nvPr/>
        </p:nvSpPr>
        <p:spPr>
          <a:xfrm>
            <a:off x="6724650" y="4638675"/>
            <a:ext cx="42672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♦</a:t>
            </a:r>
            <a:r>
              <a:rPr lang="en-US" sz="937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K is </a:t>
            </a:r>
            <a:r>
              <a:rPr lang="en-US" sz="937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less suitable</a:t>
            </a:r>
            <a:r>
              <a:rPr lang="en-US" sz="937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7" b="0" i="0" u="none" strike="noStrike" cap="non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❌</a:t>
            </a:r>
            <a:r>
              <a:rPr lang="en-US" sz="937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(0.39) for rice.</a:t>
            </a:r>
            <a:endParaRPr/>
          </a:p>
        </p:txBody>
      </p:sp>
      <p:sp>
        <p:nvSpPr>
          <p:cNvPr id="341" name="Google Shape;341;p20"/>
          <p:cNvSpPr txBox="1"/>
          <p:nvPr/>
        </p:nvSpPr>
        <p:spPr>
          <a:xfrm>
            <a:off x="6724650" y="5010150"/>
            <a:ext cx="42672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♦</a:t>
            </a:r>
            <a:r>
              <a:rPr lang="en-US" sz="937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Temperature is </a:t>
            </a:r>
            <a:r>
              <a:rPr lang="en-US" sz="937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highly suitable</a:t>
            </a:r>
            <a:r>
              <a:rPr lang="en-US" sz="937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7" b="0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lang="en-US" sz="937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(0.90) for rice.</a:t>
            </a:r>
            <a:endParaRPr/>
          </a:p>
        </p:txBody>
      </p:sp>
      <p:sp>
        <p:nvSpPr>
          <p:cNvPr id="342" name="Google Shape;342;p20"/>
          <p:cNvSpPr txBox="1"/>
          <p:nvPr/>
        </p:nvSpPr>
        <p:spPr>
          <a:xfrm>
            <a:off x="6724650" y="5381625"/>
            <a:ext cx="42672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♦</a:t>
            </a:r>
            <a:r>
              <a:rPr lang="en-US" sz="937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Humidity is </a:t>
            </a:r>
            <a:r>
              <a:rPr lang="en-US" sz="937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highly suitable</a:t>
            </a:r>
            <a:r>
              <a:rPr lang="en-US" sz="937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937" b="0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✅</a:t>
            </a:r>
            <a:r>
              <a:rPr lang="en-US" sz="937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(0.87) for rice.</a:t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6724650" y="4095750"/>
            <a:ext cx="2005458" cy="571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6724650" y="4467225"/>
            <a:ext cx="2389584" cy="571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6724650" y="4838700"/>
            <a:ext cx="1664196" cy="571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6724650" y="5210175"/>
            <a:ext cx="3840360" cy="571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6724650" y="5581650"/>
            <a:ext cx="3712368" cy="571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 txBox="1"/>
          <p:nvPr/>
        </p:nvSpPr>
        <p:spPr>
          <a:xfrm>
            <a:off x="762000" y="5715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Model Output &amp; Explainability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766887"/>
            <a:ext cx="50958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1"/>
          <p:cNvSpPr/>
          <p:nvPr/>
        </p:nvSpPr>
        <p:spPr>
          <a:xfrm>
            <a:off x="762000" y="1297483"/>
            <a:ext cx="5095875" cy="493930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6" name="Google Shape;356;p21"/>
          <p:cNvGraphicFramePr/>
          <p:nvPr/>
        </p:nvGraphicFramePr>
        <p:xfrm>
          <a:off x="762000" y="1297483"/>
          <a:ext cx="5095850" cy="4939350"/>
        </p:xfrm>
        <a:graphic>
          <a:graphicData uri="http://schemas.openxmlformats.org/drawingml/2006/table">
            <a:tbl>
              <a:tblPr firstRow="1" bandRow="1">
                <a:noFill/>
                <a:tableStyleId>{BC10838B-5340-41E2-AE21-BEAE80F4CF70}</a:tableStyleId>
              </a:tblPr>
              <a:tblGrid>
                <a:gridCol w="17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5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B17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B17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Traditional ML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0B172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Soft Computing (Ours)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Boundary Handling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Crisp Boundaries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65F4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Overlapping Degrees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 Transparency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(Black-box)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65F4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High (Explainable)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Failure Mode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Brittle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65F4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Graceful Degradation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Computational Load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65F4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Very 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3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Output Utility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Absolute class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065F4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Ranked percentage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7" name="Google Shape;357;p21"/>
          <p:cNvSpPr/>
          <p:nvPr/>
        </p:nvSpPr>
        <p:spPr>
          <a:xfrm>
            <a:off x="762000" y="2108001"/>
            <a:ext cx="17668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2528887" y="2108001"/>
            <a:ext cx="1503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4032200" y="2108001"/>
            <a:ext cx="18256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762000" y="2932807"/>
            <a:ext cx="17668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2528887" y="2932807"/>
            <a:ext cx="1503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4032200" y="2932807"/>
            <a:ext cx="18256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762000" y="3757612"/>
            <a:ext cx="17668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2528887" y="3757612"/>
            <a:ext cx="1503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4032200" y="3757612"/>
            <a:ext cx="18256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762000" y="4582417"/>
            <a:ext cx="17668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2528887" y="4582417"/>
            <a:ext cx="1503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4032200" y="4582417"/>
            <a:ext cx="18256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1"/>
          <p:cNvSpPr/>
          <p:nvPr/>
        </p:nvSpPr>
        <p:spPr>
          <a:xfrm>
            <a:off x="762000" y="5407223"/>
            <a:ext cx="17668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1"/>
          <p:cNvSpPr/>
          <p:nvPr/>
        </p:nvSpPr>
        <p:spPr>
          <a:xfrm>
            <a:off x="2528887" y="5407223"/>
            <a:ext cx="1503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4032200" y="5407223"/>
            <a:ext cx="18256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762000" y="5715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B1727"/>
                </a:solidFill>
                <a:latin typeface="Inter"/>
                <a:ea typeface="Inter"/>
                <a:cs typeface="Inter"/>
                <a:sym typeface="Inter"/>
              </a:rPr>
              <a:t>Performance &amp; System Comparison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727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5094982"/>
            <a:ext cx="9525000" cy="111621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22"/>
          <p:cNvSpPr txBox="1"/>
          <p:nvPr/>
        </p:nvSpPr>
        <p:spPr>
          <a:xfrm>
            <a:off x="1143000" y="5333107"/>
            <a:ext cx="88106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>
                <a:solidFill>
                  <a:srgbClr val="34D399"/>
                </a:solidFill>
                <a:latin typeface="Inter Medium"/>
                <a:ea typeface="Inter Medium"/>
                <a:cs typeface="Inter Medium"/>
                <a:sym typeface="Inter Medium"/>
              </a:rPr>
              <a:t>“This system combines the interpretability of fuzzy logic with the predictive power of machine learning.”</a:t>
            </a:r>
            <a:endParaRPr/>
          </a:p>
        </p:txBody>
      </p:sp>
      <p:sp>
        <p:nvSpPr>
          <p:cNvPr id="380" name="Google Shape;380;p22"/>
          <p:cNvSpPr txBox="1"/>
          <p:nvPr/>
        </p:nvSpPr>
        <p:spPr>
          <a:xfrm>
            <a:off x="1181100" y="1513582"/>
            <a:ext cx="9105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Bridging the Gap: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Connects raw data to actionable digital recommendations.</a:t>
            </a:r>
            <a:endParaRPr/>
          </a:p>
        </p:txBody>
      </p:sp>
      <p:sp>
        <p:nvSpPr>
          <p:cNvPr id="381" name="Google Shape;381;p22"/>
          <p:cNvSpPr txBox="1"/>
          <p:nvPr/>
        </p:nvSpPr>
        <p:spPr>
          <a:xfrm>
            <a:off x="1181100" y="2085082"/>
            <a:ext cx="9105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Natural Alignment: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Triangular Membership Functions natively understand the overlapping, continuous nature of soil and climate conditions.</a:t>
            </a:r>
            <a:endParaRPr/>
          </a:p>
        </p:txBody>
      </p:sp>
      <p:sp>
        <p:nvSpPr>
          <p:cNvPr id="382" name="Google Shape;382;p22"/>
          <p:cNvSpPr txBox="1"/>
          <p:nvPr/>
        </p:nvSpPr>
        <p:spPr>
          <a:xfrm>
            <a:off x="1181100" y="2961382"/>
            <a:ext cx="9105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Uncompromised Accuracy: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Proves transparency does not sacrifice accuracy when benchmarked against 6 comparative ML models with XAI integration.</a:t>
            </a:r>
            <a:endParaRPr/>
          </a:p>
        </p:txBody>
      </p:sp>
      <p:sp>
        <p:nvSpPr>
          <p:cNvPr id="383" name="Google Shape;383;p22"/>
          <p:cNvSpPr txBox="1"/>
          <p:nvPr/>
        </p:nvSpPr>
        <p:spPr>
          <a:xfrm>
            <a:off x="1181100" y="3837682"/>
            <a:ext cx="9105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Empowering Farmers: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Shifts the paradigm by showing exactly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how much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crop matches their land, not just blindly telling them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what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plant.</a:t>
            </a:r>
            <a:endParaRPr/>
          </a:p>
        </p:txBody>
      </p:sp>
      <p:pic>
        <p:nvPicPr>
          <p:cNvPr id="384" name="Google Shape;38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546919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118419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994719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871019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2"/>
          <p:cNvSpPr txBox="1"/>
          <p:nvPr/>
        </p:nvSpPr>
        <p:spPr>
          <a:xfrm>
            <a:off x="762000" y="571500"/>
            <a:ext cx="112014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Conclusion &amp; Impact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813</Words>
  <Application>Microsoft Office PowerPoint</Application>
  <PresentationFormat>Widescreen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Inter Medium</vt:lpstr>
      <vt:lpstr>Inter</vt:lpstr>
      <vt:lpstr>Arial</vt:lpstr>
      <vt:lpstr>Calibri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Rithul kanna</cp:lastModifiedBy>
  <cp:revision>1</cp:revision>
  <dcterms:modified xsi:type="dcterms:W3CDTF">2026-03-29T05:20:35Z</dcterms:modified>
</cp:coreProperties>
</file>